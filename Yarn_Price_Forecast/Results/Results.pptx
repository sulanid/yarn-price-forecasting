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5" r:id="rId4"/>
    <p:sldId id="286" r:id="rId5"/>
    <p:sldId id="287" r:id="rId6"/>
    <p:sldId id="288" r:id="rId7"/>
    <p:sldId id="289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2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2B26-5316-489B-2897-9FD286C68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6959A-3E9C-451D-5DD6-3EA359B82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C9DAF-4C22-2318-7C08-199D3012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C2AFD-AA7B-46CD-C881-1B191878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A8693-1D1E-8309-0D23-84858DC0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2E30-B280-6326-2708-F7C4F386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DE0A6-0960-E303-9743-D76B4062F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B3395-E134-F5EB-D1C7-7AD369503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1C02C-6FF6-1720-44DF-7D0EACFD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9A048-A1E4-02FC-DAB9-1E051017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1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2DF6-7F98-9F76-AD6A-F424234A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11DF-73B2-E3B9-0153-3321ACC7B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8C116-49C3-A3F9-B864-38BD0AC5B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313A8-EEC5-2A05-F68E-F2BBCBF94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9A656-CC24-3240-7F67-04DEF402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3979-B9A4-66FB-1547-C04BCE2C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BC4F-FC36-4AAC-4303-6636724E1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F948A-973C-C593-E985-870DADFDA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94165-6063-8986-223C-A7918028C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1C87B-AEA9-6515-B7B6-730C320C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5D52D-3D3C-C2D2-E804-D60B8738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529A-81A1-B71C-C10C-C75176D32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45517-F660-D27C-1696-0D9B07B89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C6292-51B7-C576-0C10-5673C502A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0DD8B2-BF71-3CB2-9464-BC1161193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9F5C7-ABAB-B7E8-1FB4-99CA0D110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A2D1A3-A7B4-C8CC-F2DA-5C42F197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751803-1909-24DB-467D-F01FD584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49E55-BBCE-3CEC-6742-DF1790FF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3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F2F3-BCA3-F5EB-7530-7473E2EE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F0C30-1E10-9789-1648-7D97CF59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42097-2541-EE9D-C43A-D297F866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C4877-740C-C60E-C448-1A355F55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8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E6305-F6BF-540C-C698-6F5305045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98BC3-92A4-25B9-F326-6458A7B5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A91EA-82DE-2D80-C68D-794309FB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53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4453A-BED6-1287-30FE-A198D290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7E5F-DCC0-B3BB-71BC-F0C0C8A0F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B5EA7-A368-4410-3098-79902B928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5C7AE-539B-C5F2-4BE9-183D063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BD0BB-C6DE-E978-506F-23AB8355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952BA-4D00-ADD2-9CD8-0D3DB22EB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6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12F1-0F0D-820A-EA94-F55FA1C1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B7DBB-51EC-FB38-3730-D652BDA61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833C5-8D86-B234-7ABA-31A948E4C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A783E-9CF0-0314-6EE6-90759BE7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C57FF-9A44-41F3-0F34-30D30730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AA0A9-3809-0D0A-96B6-9A0795E9D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2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2D94-EBBB-57DA-1ECE-46C6DE9F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51081-9C19-D1FD-9458-9A369B502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0822B-0CF9-D934-1B26-EE58AB60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1DDAA-A354-9F28-F264-A0A1DD14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901DA-B05C-5BF1-8B32-08DCE655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2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224B09-623A-0D01-C913-E795FE81B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46862-79FE-F9CC-12AF-5A1432D2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0798A-FA47-C5F4-EBEE-B15DD780D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04692-FDC9-B3BE-414C-87941264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E3A3B-E1E3-5150-E7C4-873623C0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05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E3583B-4C0B-3A2F-757D-9A761787E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5D54E-5EDF-AD91-36BD-9E70DD543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7B919-BF53-E3F4-C3FD-47F09CAFD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0C8AD-1EED-4ABA-B53B-8F05E7A2C5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FACDF-AA5C-8F92-A972-12DE57FED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E7BE7-F1B7-1EC9-70A8-42B6FD3AE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3AF273-F5F4-4A74-B1E8-989490FB4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D388-F12B-AED2-72F9-5E3CFD8FBB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B976D-2E7F-9C96-495E-F25832CF2F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7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416A-F9E9-4B8C-F308-32D2F13CD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4B7E-DD65-22E2-270E-DCC0F4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940" y="336097"/>
            <a:ext cx="3875510" cy="1325563"/>
          </a:xfrm>
          <a:noFill/>
        </p:spPr>
        <p:txBody>
          <a:bodyPr>
            <a:normAutofit/>
          </a:bodyPr>
          <a:lstStyle/>
          <a:p>
            <a:r>
              <a:rPr lang="en-US" sz="3600" b="1" dirty="0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085F7-A4A2-6F67-23B2-710C2543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DF8A-4821-40A4-8F05-DC426B417AE6}" type="slidenum">
              <a:rPr lang="en-US" smtClean="0"/>
              <a:t>2</a:t>
            </a:fld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359D494-6046-1F96-CAB9-83B06628297F}"/>
              </a:ext>
            </a:extLst>
          </p:cNvPr>
          <p:cNvGrpSpPr/>
          <p:nvPr/>
        </p:nvGrpSpPr>
        <p:grpSpPr>
          <a:xfrm>
            <a:off x="352947" y="784599"/>
            <a:ext cx="10416963" cy="5945969"/>
            <a:chOff x="338199" y="578127"/>
            <a:chExt cx="10416963" cy="5945969"/>
          </a:xfrm>
        </p:grpSpPr>
        <p:pic>
          <p:nvPicPr>
            <p:cNvPr id="13" name="Picture 12" descr="A blue ball of yarn&#10;&#10;AI-generated content may be incorrect.">
              <a:extLst>
                <a:ext uri="{FF2B5EF4-FFF2-40B4-BE49-F238E27FC236}">
                  <a16:creationId xmlns:a16="http://schemas.microsoft.com/office/drawing/2014/main" id="{1F984D62-992B-6958-BE8B-978A00581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461" y="2505106"/>
              <a:ext cx="1818291" cy="1818291"/>
            </a:xfrm>
            <a:prstGeom prst="rect">
              <a:avLst/>
            </a:prstGeom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BC877C9-1023-537E-DF4F-47470B5026FB}"/>
                </a:ext>
              </a:extLst>
            </p:cNvPr>
            <p:cNvSpPr/>
            <p:nvPr/>
          </p:nvSpPr>
          <p:spPr>
            <a:xfrm>
              <a:off x="338199" y="4199604"/>
              <a:ext cx="1954924" cy="40990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Cotton Yarn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389255A-9CAE-8AD5-EEE7-AB0EC44E729D}"/>
                </a:ext>
              </a:extLst>
            </p:cNvPr>
            <p:cNvGrpSpPr/>
            <p:nvPr/>
          </p:nvGrpSpPr>
          <p:grpSpPr>
            <a:xfrm>
              <a:off x="5947461" y="578127"/>
              <a:ext cx="4807701" cy="5945969"/>
              <a:chOff x="5947461" y="578127"/>
              <a:chExt cx="4807701" cy="5945969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B02A4BA-65C6-580D-64B1-19C7779B149A}"/>
                  </a:ext>
                </a:extLst>
              </p:cNvPr>
              <p:cNvGrpSpPr/>
              <p:nvPr/>
            </p:nvGrpSpPr>
            <p:grpSpPr>
              <a:xfrm>
                <a:off x="7124115" y="5996985"/>
                <a:ext cx="2477088" cy="527111"/>
                <a:chOff x="7212603" y="6085473"/>
                <a:chExt cx="2477088" cy="527111"/>
              </a:xfrm>
            </p:grpSpPr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79D0A21-6216-ADD9-6185-B79C00297DE3}"/>
                    </a:ext>
                  </a:extLst>
                </p:cNvPr>
                <p:cNvSpPr txBox="1"/>
                <p:nvPr/>
              </p:nvSpPr>
              <p:spPr>
                <a:xfrm>
                  <a:off x="7330591" y="6200171"/>
                  <a:ext cx="234435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5">
                          <a:lumMod val="75000"/>
                        </a:scheme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LSTM Variants, GRU models</a:t>
                  </a:r>
                </a:p>
              </p:txBody>
            </p:sp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25F6AB16-2E72-0211-98CB-203E2D2B1D63}"/>
                    </a:ext>
                  </a:extLst>
                </p:cNvPr>
                <p:cNvSpPr/>
                <p:nvPr/>
              </p:nvSpPr>
              <p:spPr>
                <a:xfrm>
                  <a:off x="7212603" y="6085473"/>
                  <a:ext cx="2477088" cy="527111"/>
                </a:xfrm>
                <a:prstGeom prst="roundRect">
                  <a:avLst/>
                </a:prstGeom>
                <a:noFill/>
                <a:ln w="2222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1F703B8-787D-3409-1E58-C88E548DF901}"/>
                  </a:ext>
                </a:extLst>
              </p:cNvPr>
              <p:cNvGrpSpPr/>
              <p:nvPr/>
            </p:nvGrpSpPr>
            <p:grpSpPr>
              <a:xfrm>
                <a:off x="5947461" y="578127"/>
                <a:ext cx="4807701" cy="5333941"/>
                <a:chOff x="5947461" y="578127"/>
                <a:chExt cx="4807701" cy="5333941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D6A965A9-DC9A-7B01-DC15-9D078351657A}"/>
                    </a:ext>
                  </a:extLst>
                </p:cNvPr>
                <p:cNvGrpSpPr/>
                <p:nvPr/>
              </p:nvGrpSpPr>
              <p:grpSpPr>
                <a:xfrm>
                  <a:off x="5947461" y="578127"/>
                  <a:ext cx="4807701" cy="5333941"/>
                  <a:chOff x="5962209" y="578127"/>
                  <a:chExt cx="4807701" cy="5333941"/>
                </a:xfrm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5C6212EA-7E5A-059F-8774-415593CBA919}"/>
                      </a:ext>
                    </a:extLst>
                  </p:cNvPr>
                  <p:cNvSpPr/>
                  <p:nvPr/>
                </p:nvSpPr>
                <p:spPr>
                  <a:xfrm>
                    <a:off x="5962209" y="578127"/>
                    <a:ext cx="4807701" cy="5333941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50E20572-7BFA-0F2C-72E4-2430895F81B3}"/>
                      </a:ext>
                    </a:extLst>
                  </p:cNvPr>
                  <p:cNvGrpSpPr/>
                  <p:nvPr/>
                </p:nvGrpSpPr>
                <p:grpSpPr>
                  <a:xfrm>
                    <a:off x="6096000" y="822954"/>
                    <a:ext cx="4495590" cy="4826744"/>
                    <a:chOff x="6096000" y="822954"/>
                    <a:chExt cx="4495590" cy="4826744"/>
                  </a:xfrm>
                </p:grpSpPr>
                <p:sp>
                  <p:nvSpPr>
                    <p:cNvPr id="17" name="Rectangle: Rounded Corners 16">
                      <a:extLst>
                        <a:ext uri="{FF2B5EF4-FFF2-40B4-BE49-F238E27FC236}">
                          <a16:creationId xmlns:a16="http://schemas.microsoft.com/office/drawing/2014/main" id="{B0E6B54D-0034-89DA-6C54-E35A8B4385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1386419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Domestic</a:t>
                      </a:r>
                    </a:p>
                  </p:txBody>
                </p:sp>
                <p:sp>
                  <p:nvSpPr>
                    <p:cNvPr id="18" name="Rectangle: Rounded Corners 17">
                      <a:extLst>
                        <a:ext uri="{FF2B5EF4-FFF2-40B4-BE49-F238E27FC236}">
                          <a16:creationId xmlns:a16="http://schemas.microsoft.com/office/drawing/2014/main" id="{B6CA83C4-78E9-273A-C641-A0D0679DF9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2314902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FOB</a:t>
                      </a:r>
                    </a:p>
                  </p:txBody>
                </p:sp>
                <p:sp>
                  <p:nvSpPr>
                    <p:cNvPr id="19" name="Rectangle: Rounded Corners 18">
                      <a:extLst>
                        <a:ext uri="{FF2B5EF4-FFF2-40B4-BE49-F238E27FC236}">
                          <a16:creationId xmlns:a16="http://schemas.microsoft.com/office/drawing/2014/main" id="{5748A3B7-20A4-4C45-F5D2-B4477AED83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4133196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Domestic</a:t>
                      </a:r>
                    </a:p>
                  </p:txBody>
                </p:sp>
                <p:sp>
                  <p:nvSpPr>
                    <p:cNvPr id="20" name="Rectangle: Rounded Corners 19">
                      <a:extLst>
                        <a:ext uri="{FF2B5EF4-FFF2-40B4-BE49-F238E27FC236}">
                          <a16:creationId xmlns:a16="http://schemas.microsoft.com/office/drawing/2014/main" id="{97E364CA-50FE-B7EB-8B57-22BDA52A7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000" y="5180649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FOB</a:t>
                      </a:r>
                    </a:p>
                  </p:txBody>
                </p:sp>
                <p:sp>
                  <p:nvSpPr>
                    <p:cNvPr id="35" name="Rectangle: Rounded Corners 34">
                      <a:extLst>
                        <a:ext uri="{FF2B5EF4-FFF2-40B4-BE49-F238E27FC236}">
                          <a16:creationId xmlns:a16="http://schemas.microsoft.com/office/drawing/2014/main" id="{54FCCD6E-AEA1-BBE2-9689-AF7AA5ACD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5211" y="822954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Combed</a:t>
                      </a:r>
                    </a:p>
                  </p:txBody>
                </p:sp>
                <p:sp>
                  <p:nvSpPr>
                    <p:cNvPr id="36" name="Rectangle: Rounded Corners 35">
                      <a:extLst>
                        <a:ext uri="{FF2B5EF4-FFF2-40B4-BE49-F238E27FC236}">
                          <a16:creationId xmlns:a16="http://schemas.microsoft.com/office/drawing/2014/main" id="{FE8E8E55-5DD5-173E-76E9-46FBA2492A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5211" y="1452317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Carded</a:t>
                      </a:r>
                    </a:p>
                  </p:txBody>
                </p:sp>
                <p:sp>
                  <p:nvSpPr>
                    <p:cNvPr id="37" name="Rectangle: Rounded Corners 36">
                      <a:extLst>
                        <a:ext uri="{FF2B5EF4-FFF2-40B4-BE49-F238E27FC236}">
                          <a16:creationId xmlns:a16="http://schemas.microsoft.com/office/drawing/2014/main" id="{DA55F8B0-20DE-41E8-060D-AD4DA09E3D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7043" y="2136048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Combed</a:t>
                      </a:r>
                    </a:p>
                  </p:txBody>
                </p:sp>
                <p:sp>
                  <p:nvSpPr>
                    <p:cNvPr id="38" name="Rectangle: Rounded Corners 37">
                      <a:extLst>
                        <a:ext uri="{FF2B5EF4-FFF2-40B4-BE49-F238E27FC236}">
                          <a16:creationId xmlns:a16="http://schemas.microsoft.com/office/drawing/2014/main" id="{220CCC9A-20CA-6B10-BA6B-9E4237B4C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7043" y="2786359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Carded</a:t>
                      </a:r>
                    </a:p>
                  </p:txBody>
                </p:sp>
                <p:sp>
                  <p:nvSpPr>
                    <p:cNvPr id="39" name="Rectangle: Rounded Corners 38">
                      <a:extLst>
                        <a:ext uri="{FF2B5EF4-FFF2-40B4-BE49-F238E27FC236}">
                          <a16:creationId xmlns:a16="http://schemas.microsoft.com/office/drawing/2014/main" id="{EB84A7BE-8EF7-5ADC-DBED-5437D88609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0600" y="4144124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Combed</a:t>
                      </a:r>
                    </a:p>
                  </p:txBody>
                </p:sp>
                <p:sp>
                  <p:nvSpPr>
                    <p:cNvPr id="40" name="Rectangle: Rounded Corners 39">
                      <a:extLst>
                        <a:ext uri="{FF2B5EF4-FFF2-40B4-BE49-F238E27FC236}">
                          <a16:creationId xmlns:a16="http://schemas.microsoft.com/office/drawing/2014/main" id="{E793EF1D-2D8C-7C38-CD29-377A14D0C8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6666" y="5239795"/>
                      <a:ext cx="1954924" cy="409903"/>
                    </a:xfrm>
                    <a:prstGeom prst="round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Combed</a:t>
                      </a:r>
                    </a:p>
                  </p:txBody>
                </p:sp>
                <p:sp>
                  <p:nvSpPr>
                    <p:cNvPr id="11" name="Freeform: Shape 10">
                      <a:extLst>
                        <a:ext uri="{FF2B5EF4-FFF2-40B4-BE49-F238E27FC236}">
                          <a16:creationId xmlns:a16="http://schemas.microsoft.com/office/drawing/2014/main" id="{CD55A881-FE0E-9BB6-ADF1-A951657531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37871" y="1009125"/>
                      <a:ext cx="551161" cy="533527"/>
                    </a:xfrm>
                    <a:custGeom>
                      <a:avLst/>
                      <a:gdLst>
                        <a:gd name="connsiteX0" fmla="*/ 0 w 551161"/>
                        <a:gd name="connsiteY0" fmla="*/ 495210 h 533527"/>
                        <a:gd name="connsiteX1" fmla="*/ 265471 w 551161"/>
                        <a:gd name="connsiteY1" fmla="*/ 495210 h 533527"/>
                        <a:gd name="connsiteX2" fmla="*/ 235974 w 551161"/>
                        <a:gd name="connsiteY2" fmla="*/ 97004 h 533527"/>
                        <a:gd name="connsiteX3" fmla="*/ 530942 w 551161"/>
                        <a:gd name="connsiteY3" fmla="*/ 8514 h 533527"/>
                        <a:gd name="connsiteX4" fmla="*/ 501445 w 551161"/>
                        <a:gd name="connsiteY4" fmla="*/ 8514 h 5335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51161" h="533527">
                          <a:moveTo>
                            <a:pt x="0" y="495210"/>
                          </a:moveTo>
                          <a:cubicBezTo>
                            <a:pt x="113071" y="528394"/>
                            <a:pt x="226142" y="561578"/>
                            <a:pt x="265471" y="495210"/>
                          </a:cubicBezTo>
                          <a:cubicBezTo>
                            <a:pt x="304800" y="428842"/>
                            <a:pt x="191729" y="178120"/>
                            <a:pt x="235974" y="97004"/>
                          </a:cubicBezTo>
                          <a:cubicBezTo>
                            <a:pt x="280219" y="15888"/>
                            <a:pt x="486697" y="23262"/>
                            <a:pt x="530942" y="8514"/>
                          </a:cubicBezTo>
                          <a:cubicBezTo>
                            <a:pt x="575187" y="-6234"/>
                            <a:pt x="538316" y="1140"/>
                            <a:pt x="501445" y="8514"/>
                          </a:cubicBezTo>
                        </a:path>
                      </a:pathLst>
                    </a:custGeom>
                    <a:noFill/>
                    <a:ln w="285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" name="Freeform: Shape 11">
                      <a:extLst>
                        <a:ext uri="{FF2B5EF4-FFF2-40B4-BE49-F238E27FC236}">
                          <a16:creationId xmlns:a16="http://schemas.microsoft.com/office/drawing/2014/main" id="{045A5F2A-BB1D-7F7B-2864-F4A657E5D8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37871" y="1622323"/>
                      <a:ext cx="545690" cy="368839"/>
                    </a:xfrm>
                    <a:custGeom>
                      <a:avLst/>
                      <a:gdLst>
                        <a:gd name="connsiteX0" fmla="*/ 0 w 545690"/>
                        <a:gd name="connsiteY0" fmla="*/ 0 h 368839"/>
                        <a:gd name="connsiteX1" fmla="*/ 206477 w 545690"/>
                        <a:gd name="connsiteY1" fmla="*/ 73742 h 368839"/>
                        <a:gd name="connsiteX2" fmla="*/ 324464 w 545690"/>
                        <a:gd name="connsiteY2" fmla="*/ 368709 h 368839"/>
                        <a:gd name="connsiteX3" fmla="*/ 545690 w 545690"/>
                        <a:gd name="connsiteY3" fmla="*/ 103238 h 368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45690" h="368839">
                          <a:moveTo>
                            <a:pt x="0" y="0"/>
                          </a:moveTo>
                          <a:cubicBezTo>
                            <a:pt x="76200" y="6145"/>
                            <a:pt x="152400" y="12291"/>
                            <a:pt x="206477" y="73742"/>
                          </a:cubicBezTo>
                          <a:cubicBezTo>
                            <a:pt x="260554" y="135193"/>
                            <a:pt x="267929" y="363793"/>
                            <a:pt x="324464" y="368709"/>
                          </a:cubicBezTo>
                          <a:cubicBezTo>
                            <a:pt x="380999" y="373625"/>
                            <a:pt x="463344" y="238431"/>
                            <a:pt x="545690" y="103238"/>
                          </a:cubicBezTo>
                        </a:path>
                      </a:pathLst>
                    </a:custGeom>
                    <a:noFill/>
                    <a:ln w="285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Freeform: Shape 22">
                      <a:extLst>
                        <a:ext uri="{FF2B5EF4-FFF2-40B4-BE49-F238E27FC236}">
                          <a16:creationId xmlns:a16="http://schemas.microsoft.com/office/drawing/2014/main" id="{FD3A5565-3397-AEFD-5D37-D0B2FBE08E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37871" y="4217407"/>
                      <a:ext cx="619432" cy="74374"/>
                    </a:xfrm>
                    <a:custGeom>
                      <a:avLst/>
                      <a:gdLst>
                        <a:gd name="connsiteX0" fmla="*/ 0 w 619432"/>
                        <a:gd name="connsiteY0" fmla="*/ 44877 h 74374"/>
                        <a:gd name="connsiteX1" fmla="*/ 294968 w 619432"/>
                        <a:gd name="connsiteY1" fmla="*/ 632 h 74374"/>
                        <a:gd name="connsiteX2" fmla="*/ 619432 w 619432"/>
                        <a:gd name="connsiteY2" fmla="*/ 74374 h 743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619432" h="74374">
                          <a:moveTo>
                            <a:pt x="0" y="44877"/>
                          </a:moveTo>
                          <a:cubicBezTo>
                            <a:pt x="95864" y="20296"/>
                            <a:pt x="191729" y="-4284"/>
                            <a:pt x="294968" y="632"/>
                          </a:cubicBezTo>
                          <a:cubicBezTo>
                            <a:pt x="398207" y="5548"/>
                            <a:pt x="508819" y="39961"/>
                            <a:pt x="619432" y="74374"/>
                          </a:cubicBezTo>
                        </a:path>
                      </a:pathLst>
                    </a:custGeom>
                    <a:noFill/>
                    <a:ln w="285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" name="Freeform: Shape 23">
                      <a:extLst>
                        <a:ext uri="{FF2B5EF4-FFF2-40B4-BE49-F238E27FC236}">
                          <a16:creationId xmlns:a16="http://schemas.microsoft.com/office/drawing/2014/main" id="{E9A3679E-7D64-F9F9-EAE9-648FF27AE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23123" y="5383161"/>
                      <a:ext cx="619432" cy="206920"/>
                    </a:xfrm>
                    <a:custGeom>
                      <a:avLst/>
                      <a:gdLst>
                        <a:gd name="connsiteX0" fmla="*/ 0 w 619432"/>
                        <a:gd name="connsiteY0" fmla="*/ 0 h 206920"/>
                        <a:gd name="connsiteX1" fmla="*/ 324464 w 619432"/>
                        <a:gd name="connsiteY1" fmla="*/ 206478 h 206920"/>
                        <a:gd name="connsiteX2" fmla="*/ 619432 w 619432"/>
                        <a:gd name="connsiteY2" fmla="*/ 58994 h 206920"/>
                        <a:gd name="connsiteX3" fmla="*/ 619432 w 619432"/>
                        <a:gd name="connsiteY3" fmla="*/ 58994 h 206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19432" h="206920">
                          <a:moveTo>
                            <a:pt x="0" y="0"/>
                          </a:moveTo>
                          <a:cubicBezTo>
                            <a:pt x="110612" y="98323"/>
                            <a:pt x="221225" y="196646"/>
                            <a:pt x="324464" y="206478"/>
                          </a:cubicBezTo>
                          <a:cubicBezTo>
                            <a:pt x="427703" y="216310"/>
                            <a:pt x="619432" y="58994"/>
                            <a:pt x="619432" y="58994"/>
                          </a:cubicBezTo>
                          <a:lnTo>
                            <a:pt x="619432" y="58994"/>
                          </a:lnTo>
                        </a:path>
                      </a:pathLst>
                    </a:custGeom>
                    <a:noFill/>
                    <a:ln w="285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B7D29B94-5218-A0DC-4105-114AF646823F}"/>
                    </a:ext>
                  </a:extLst>
                </p:cNvPr>
                <p:cNvSpPr/>
                <p:nvPr/>
              </p:nvSpPr>
              <p:spPr>
                <a:xfrm>
                  <a:off x="8023123" y="2256504"/>
                  <a:ext cx="589935" cy="177842"/>
                </a:xfrm>
                <a:custGeom>
                  <a:avLst/>
                  <a:gdLst>
                    <a:gd name="connsiteX0" fmla="*/ 0 w 589935"/>
                    <a:gd name="connsiteY0" fmla="*/ 162232 h 177842"/>
                    <a:gd name="connsiteX1" fmla="*/ 353961 w 589935"/>
                    <a:gd name="connsiteY1" fmla="*/ 162232 h 177842"/>
                    <a:gd name="connsiteX2" fmla="*/ 589935 w 589935"/>
                    <a:gd name="connsiteY2" fmla="*/ 0 h 1778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9935" h="177842">
                      <a:moveTo>
                        <a:pt x="0" y="162232"/>
                      </a:moveTo>
                      <a:cubicBezTo>
                        <a:pt x="127819" y="175751"/>
                        <a:pt x="255639" y="189271"/>
                        <a:pt x="353961" y="162232"/>
                      </a:cubicBezTo>
                      <a:cubicBezTo>
                        <a:pt x="452283" y="135193"/>
                        <a:pt x="521109" y="67596"/>
                        <a:pt x="589935" y="0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36F22B7-BD27-4703-2FD5-3AD0175B4108}"/>
                    </a:ext>
                  </a:extLst>
                </p:cNvPr>
                <p:cNvSpPr/>
                <p:nvPr/>
              </p:nvSpPr>
              <p:spPr>
                <a:xfrm>
                  <a:off x="8037871" y="2551389"/>
                  <a:ext cx="560439" cy="383539"/>
                </a:xfrm>
                <a:custGeom>
                  <a:avLst/>
                  <a:gdLst>
                    <a:gd name="connsiteX0" fmla="*/ 0 w 560439"/>
                    <a:gd name="connsiteY0" fmla="*/ 44326 h 383539"/>
                    <a:gd name="connsiteX1" fmla="*/ 339213 w 560439"/>
                    <a:gd name="connsiteY1" fmla="*/ 29578 h 383539"/>
                    <a:gd name="connsiteX2" fmla="*/ 560439 w 560439"/>
                    <a:gd name="connsiteY2" fmla="*/ 383539 h 383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60439" h="383539">
                      <a:moveTo>
                        <a:pt x="0" y="44326"/>
                      </a:moveTo>
                      <a:cubicBezTo>
                        <a:pt x="122903" y="8684"/>
                        <a:pt x="245806" y="-26958"/>
                        <a:pt x="339213" y="29578"/>
                      </a:cubicBezTo>
                      <a:cubicBezTo>
                        <a:pt x="432620" y="86114"/>
                        <a:pt x="496529" y="234826"/>
                        <a:pt x="560439" y="383539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B76346E-CEEF-4762-18D1-FAF96F36F47D}"/>
                </a:ext>
              </a:extLst>
            </p:cNvPr>
            <p:cNvGrpSpPr/>
            <p:nvPr/>
          </p:nvGrpSpPr>
          <p:grpSpPr>
            <a:xfrm>
              <a:off x="2380593" y="1317613"/>
              <a:ext cx="3736428" cy="4874506"/>
              <a:chOff x="2380593" y="1317613"/>
              <a:chExt cx="3736428" cy="487450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E712C6F-1124-513F-70A8-D0A61FD6CA58}"/>
                  </a:ext>
                </a:extLst>
              </p:cNvPr>
              <p:cNvGrpSpPr/>
              <p:nvPr/>
            </p:nvGrpSpPr>
            <p:grpSpPr>
              <a:xfrm>
                <a:off x="3384015" y="5620202"/>
                <a:ext cx="1802570" cy="571917"/>
                <a:chOff x="3266031" y="5649698"/>
                <a:chExt cx="1802570" cy="571917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3CB9F727-9DCF-C1A2-D83D-66F92EE5626D}"/>
                    </a:ext>
                  </a:extLst>
                </p:cNvPr>
                <p:cNvSpPr/>
                <p:nvPr/>
              </p:nvSpPr>
              <p:spPr>
                <a:xfrm>
                  <a:off x="3524869" y="5649698"/>
                  <a:ext cx="1264205" cy="571917"/>
                </a:xfrm>
                <a:prstGeom prst="roundRect">
                  <a:avLst/>
                </a:prstGeom>
                <a:solidFill>
                  <a:schemeClr val="bg1"/>
                </a:solidFill>
                <a:ln w="2222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93D8013-DBBC-09C5-48B0-5584AA3309F7}"/>
                    </a:ext>
                  </a:extLst>
                </p:cNvPr>
                <p:cNvSpPr txBox="1"/>
                <p:nvPr/>
              </p:nvSpPr>
              <p:spPr>
                <a:xfrm>
                  <a:off x="3266031" y="5777058"/>
                  <a:ext cx="18025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accent6">
                          <a:lumMod val="75000"/>
                        </a:scheme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TFT model</a:t>
                  </a:r>
                  <a:r>
                    <a:rPr lang="en-US" sz="1400" dirty="0"/>
                    <a:t> </a:t>
                  </a: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B811EAE6-BC5E-8948-4F8A-9A4A4D641828}"/>
                  </a:ext>
                </a:extLst>
              </p:cNvPr>
              <p:cNvGrpSpPr/>
              <p:nvPr/>
            </p:nvGrpSpPr>
            <p:grpSpPr>
              <a:xfrm>
                <a:off x="2380593" y="1317613"/>
                <a:ext cx="3736428" cy="4222775"/>
                <a:chOff x="2380593" y="1317613"/>
                <a:chExt cx="3736428" cy="4222775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6A124BFB-797E-3F71-D7D5-ABAA46DB39AB}"/>
                    </a:ext>
                  </a:extLst>
                </p:cNvPr>
                <p:cNvSpPr/>
                <p:nvPr/>
              </p:nvSpPr>
              <p:spPr>
                <a:xfrm>
                  <a:off x="3013547" y="1437570"/>
                  <a:ext cx="2481964" cy="410281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AA2A8D62-BF33-426B-E41A-2AB2CB4E5436}"/>
                    </a:ext>
                  </a:extLst>
                </p:cNvPr>
                <p:cNvSpPr/>
                <p:nvPr/>
              </p:nvSpPr>
              <p:spPr>
                <a:xfrm>
                  <a:off x="3321266" y="1838868"/>
                  <a:ext cx="1954924" cy="409903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40s’ China</a:t>
                  </a:r>
                </a:p>
              </p:txBody>
            </p: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E54EBBEF-AF39-7D28-8C7F-9AD02FF36166}"/>
                    </a:ext>
                  </a:extLst>
                </p:cNvPr>
                <p:cNvSpPr/>
                <p:nvPr/>
              </p:nvSpPr>
              <p:spPr>
                <a:xfrm>
                  <a:off x="3331778" y="4748048"/>
                  <a:ext cx="1954924" cy="409903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30s’ India</a:t>
                  </a: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54A2EE21-6384-A3F8-09C5-50BC3B17DC0D}"/>
                    </a:ext>
                  </a:extLst>
                </p:cNvPr>
                <p:cNvSpPr/>
                <p:nvPr/>
              </p:nvSpPr>
              <p:spPr>
                <a:xfrm>
                  <a:off x="2380593" y="2044022"/>
                  <a:ext cx="951886" cy="2007514"/>
                </a:xfrm>
                <a:custGeom>
                  <a:avLst/>
                  <a:gdLst>
                    <a:gd name="connsiteX0" fmla="*/ 0 w 951886"/>
                    <a:gd name="connsiteY0" fmla="*/ 1991950 h 2007514"/>
                    <a:gd name="connsiteX1" fmla="*/ 709448 w 951886"/>
                    <a:gd name="connsiteY1" fmla="*/ 1771233 h 2007514"/>
                    <a:gd name="connsiteX2" fmla="*/ 567559 w 951886"/>
                    <a:gd name="connsiteY2" fmla="*/ 352337 h 2007514"/>
                    <a:gd name="connsiteX3" fmla="*/ 914400 w 951886"/>
                    <a:gd name="connsiteY3" fmla="*/ 21261 h 2007514"/>
                    <a:gd name="connsiteX4" fmla="*/ 945931 w 951886"/>
                    <a:gd name="connsiteY4" fmla="*/ 37026 h 2007514"/>
                    <a:gd name="connsiteX5" fmla="*/ 945931 w 951886"/>
                    <a:gd name="connsiteY5" fmla="*/ 68557 h 20075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51886" h="2007514">
                      <a:moveTo>
                        <a:pt x="0" y="1991950"/>
                      </a:moveTo>
                      <a:cubicBezTo>
                        <a:pt x="307427" y="2018226"/>
                        <a:pt x="614855" y="2044502"/>
                        <a:pt x="709448" y="1771233"/>
                      </a:cubicBezTo>
                      <a:cubicBezTo>
                        <a:pt x="804041" y="1497964"/>
                        <a:pt x="533400" y="643999"/>
                        <a:pt x="567559" y="352337"/>
                      </a:cubicBezTo>
                      <a:cubicBezTo>
                        <a:pt x="601718" y="60675"/>
                        <a:pt x="851338" y="73813"/>
                        <a:pt x="914400" y="21261"/>
                      </a:cubicBezTo>
                      <a:cubicBezTo>
                        <a:pt x="977462" y="-31291"/>
                        <a:pt x="940676" y="29143"/>
                        <a:pt x="945931" y="37026"/>
                      </a:cubicBezTo>
                      <a:cubicBezTo>
                        <a:pt x="951186" y="44909"/>
                        <a:pt x="948558" y="56733"/>
                        <a:pt x="945931" y="68557"/>
                      </a:cubicBezTo>
                    </a:path>
                  </a:pathLst>
                </a:custGeom>
                <a:ln w="28575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BEA90EA3-0CB9-38FF-FDA9-FE63D5762D52}"/>
                    </a:ext>
                  </a:extLst>
                </p:cNvPr>
                <p:cNvSpPr/>
                <p:nvPr/>
              </p:nvSpPr>
              <p:spPr>
                <a:xfrm>
                  <a:off x="2396359" y="4051738"/>
                  <a:ext cx="964547" cy="914400"/>
                </a:xfrm>
                <a:custGeom>
                  <a:avLst/>
                  <a:gdLst>
                    <a:gd name="connsiteX0" fmla="*/ 0 w 964547"/>
                    <a:gd name="connsiteY0" fmla="*/ 0 h 914400"/>
                    <a:gd name="connsiteX1" fmla="*/ 961696 w 964547"/>
                    <a:gd name="connsiteY1" fmla="*/ 189186 h 914400"/>
                    <a:gd name="connsiteX2" fmla="*/ 315310 w 964547"/>
                    <a:gd name="connsiteY2" fmla="*/ 725214 h 914400"/>
                    <a:gd name="connsiteX3" fmla="*/ 914400 w 964547"/>
                    <a:gd name="connsiteY3" fmla="*/ 914400 h 914400"/>
                    <a:gd name="connsiteX4" fmla="*/ 914400 w 964547"/>
                    <a:gd name="connsiteY4" fmla="*/ 914400 h 914400"/>
                    <a:gd name="connsiteX5" fmla="*/ 914400 w 964547"/>
                    <a:gd name="connsiteY5" fmla="*/ 914400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64547" h="914400">
                      <a:moveTo>
                        <a:pt x="0" y="0"/>
                      </a:moveTo>
                      <a:cubicBezTo>
                        <a:pt x="454572" y="34158"/>
                        <a:pt x="909144" y="68317"/>
                        <a:pt x="961696" y="189186"/>
                      </a:cubicBezTo>
                      <a:cubicBezTo>
                        <a:pt x="1014248" y="310055"/>
                        <a:pt x="323193" y="604345"/>
                        <a:pt x="315310" y="725214"/>
                      </a:cubicBezTo>
                      <a:cubicBezTo>
                        <a:pt x="307427" y="846083"/>
                        <a:pt x="914400" y="914400"/>
                        <a:pt x="914400" y="914400"/>
                      </a:cubicBezTo>
                      <a:lnTo>
                        <a:pt x="914400" y="914400"/>
                      </a:lnTo>
                      <a:lnTo>
                        <a:pt x="914400" y="914400"/>
                      </a:lnTo>
                    </a:path>
                  </a:pathLst>
                </a:custGeom>
                <a:ln w="28575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A53AAA6-4063-6458-853B-EB94F271510B}"/>
                    </a:ext>
                  </a:extLst>
                </p:cNvPr>
                <p:cNvSpPr/>
                <p:nvPr/>
              </p:nvSpPr>
              <p:spPr>
                <a:xfrm>
                  <a:off x="5235677" y="4321277"/>
                  <a:ext cx="855407" cy="587094"/>
                </a:xfrm>
                <a:custGeom>
                  <a:avLst/>
                  <a:gdLst>
                    <a:gd name="connsiteX0" fmla="*/ 0 w 855407"/>
                    <a:gd name="connsiteY0" fmla="*/ 545691 h 587094"/>
                    <a:gd name="connsiteX1" fmla="*/ 368710 w 855407"/>
                    <a:gd name="connsiteY1" fmla="*/ 530942 h 587094"/>
                    <a:gd name="connsiteX2" fmla="*/ 855407 w 855407"/>
                    <a:gd name="connsiteY2" fmla="*/ 0 h 587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5407" h="587094">
                      <a:moveTo>
                        <a:pt x="0" y="545691"/>
                      </a:moveTo>
                      <a:cubicBezTo>
                        <a:pt x="113071" y="583791"/>
                        <a:pt x="226142" y="621891"/>
                        <a:pt x="368710" y="530942"/>
                      </a:cubicBezTo>
                      <a:cubicBezTo>
                        <a:pt x="511278" y="439993"/>
                        <a:pt x="683342" y="219996"/>
                        <a:pt x="855407" y="0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1398D6D5-AEEA-E81D-0EE1-B777169123A4}"/>
                    </a:ext>
                  </a:extLst>
                </p:cNvPr>
                <p:cNvSpPr/>
                <p:nvPr/>
              </p:nvSpPr>
              <p:spPr>
                <a:xfrm>
                  <a:off x="5265174" y="5017322"/>
                  <a:ext cx="840658" cy="351091"/>
                </a:xfrm>
                <a:custGeom>
                  <a:avLst/>
                  <a:gdLst>
                    <a:gd name="connsiteX0" fmla="*/ 0 w 840658"/>
                    <a:gd name="connsiteY0" fmla="*/ 11878 h 351091"/>
                    <a:gd name="connsiteX1" fmla="*/ 368710 w 840658"/>
                    <a:gd name="connsiteY1" fmla="*/ 41374 h 351091"/>
                    <a:gd name="connsiteX2" fmla="*/ 840658 w 840658"/>
                    <a:gd name="connsiteY2" fmla="*/ 351091 h 35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40658" h="351091">
                      <a:moveTo>
                        <a:pt x="0" y="11878"/>
                      </a:moveTo>
                      <a:cubicBezTo>
                        <a:pt x="114300" y="-1642"/>
                        <a:pt x="228600" y="-15161"/>
                        <a:pt x="368710" y="41374"/>
                      </a:cubicBezTo>
                      <a:cubicBezTo>
                        <a:pt x="508820" y="97909"/>
                        <a:pt x="674739" y="224500"/>
                        <a:pt x="840658" y="351091"/>
                      </a:cubicBezTo>
                    </a:path>
                  </a:pathLst>
                </a:custGeom>
                <a:noFill/>
                <a:ln w="317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C63429AC-BD9F-A286-B323-D7CB5FAAFB33}"/>
                    </a:ext>
                  </a:extLst>
                </p:cNvPr>
                <p:cNvSpPr/>
                <p:nvPr/>
              </p:nvSpPr>
              <p:spPr>
                <a:xfrm>
                  <a:off x="5237070" y="1317613"/>
                  <a:ext cx="879951" cy="716139"/>
                </a:xfrm>
                <a:custGeom>
                  <a:avLst/>
                  <a:gdLst>
                    <a:gd name="connsiteX0" fmla="*/ 44378 w 879951"/>
                    <a:gd name="connsiteY0" fmla="*/ 716139 h 716139"/>
                    <a:gd name="connsiteX1" fmla="*/ 28613 w 879951"/>
                    <a:gd name="connsiteY1" fmla="*/ 6690 h 716139"/>
                    <a:gd name="connsiteX2" fmla="*/ 375454 w 879951"/>
                    <a:gd name="connsiteY2" fmla="*/ 353532 h 716139"/>
                    <a:gd name="connsiteX3" fmla="*/ 879951 w 879951"/>
                    <a:gd name="connsiteY3" fmla="*/ 243173 h 716139"/>
                    <a:gd name="connsiteX4" fmla="*/ 879951 w 879951"/>
                    <a:gd name="connsiteY4" fmla="*/ 243173 h 716139"/>
                    <a:gd name="connsiteX5" fmla="*/ 864185 w 879951"/>
                    <a:gd name="connsiteY5" fmla="*/ 258939 h 716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79951" h="716139">
                      <a:moveTo>
                        <a:pt x="44378" y="716139"/>
                      </a:moveTo>
                      <a:cubicBezTo>
                        <a:pt x="8906" y="391631"/>
                        <a:pt x="-26566" y="67124"/>
                        <a:pt x="28613" y="6690"/>
                      </a:cubicBezTo>
                      <a:cubicBezTo>
                        <a:pt x="83792" y="-53745"/>
                        <a:pt x="233564" y="314118"/>
                        <a:pt x="375454" y="353532"/>
                      </a:cubicBezTo>
                      <a:cubicBezTo>
                        <a:pt x="517344" y="392946"/>
                        <a:pt x="879951" y="243173"/>
                        <a:pt x="879951" y="243173"/>
                      </a:cubicBezTo>
                      <a:lnTo>
                        <a:pt x="879951" y="243173"/>
                      </a:lnTo>
                      <a:lnTo>
                        <a:pt x="864185" y="258939"/>
                      </a:lnTo>
                    </a:path>
                  </a:pathLst>
                </a:custGeom>
                <a:ln w="28575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8C5874ED-4562-A061-07D1-986B61958B17}"/>
                    </a:ext>
                  </a:extLst>
                </p:cNvPr>
                <p:cNvSpPr/>
                <p:nvPr/>
              </p:nvSpPr>
              <p:spPr>
                <a:xfrm>
                  <a:off x="5117803" y="2033752"/>
                  <a:ext cx="983452" cy="873194"/>
                </a:xfrm>
                <a:custGeom>
                  <a:avLst/>
                  <a:gdLst>
                    <a:gd name="connsiteX0" fmla="*/ 163645 w 983452"/>
                    <a:gd name="connsiteY0" fmla="*/ 0 h 873194"/>
                    <a:gd name="connsiteX1" fmla="*/ 21756 w 983452"/>
                    <a:gd name="connsiteY1" fmla="*/ 867103 h 873194"/>
                    <a:gd name="connsiteX2" fmla="*/ 573549 w 983452"/>
                    <a:gd name="connsiteY2" fmla="*/ 394138 h 873194"/>
                    <a:gd name="connsiteX3" fmla="*/ 983452 w 983452"/>
                    <a:gd name="connsiteY3" fmla="*/ 551793 h 873194"/>
                    <a:gd name="connsiteX4" fmla="*/ 983452 w 983452"/>
                    <a:gd name="connsiteY4" fmla="*/ 551793 h 873194"/>
                    <a:gd name="connsiteX5" fmla="*/ 983452 w 983452"/>
                    <a:gd name="connsiteY5" fmla="*/ 551793 h 873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83452" h="873194">
                      <a:moveTo>
                        <a:pt x="163645" y="0"/>
                      </a:moveTo>
                      <a:cubicBezTo>
                        <a:pt x="58542" y="400706"/>
                        <a:pt x="-46561" y="801413"/>
                        <a:pt x="21756" y="867103"/>
                      </a:cubicBezTo>
                      <a:cubicBezTo>
                        <a:pt x="90073" y="932793"/>
                        <a:pt x="413266" y="446690"/>
                        <a:pt x="573549" y="394138"/>
                      </a:cubicBezTo>
                      <a:cubicBezTo>
                        <a:pt x="733832" y="341586"/>
                        <a:pt x="983452" y="551793"/>
                        <a:pt x="983452" y="551793"/>
                      </a:cubicBezTo>
                      <a:lnTo>
                        <a:pt x="983452" y="551793"/>
                      </a:lnTo>
                      <a:lnTo>
                        <a:pt x="983452" y="551793"/>
                      </a:lnTo>
                    </a:path>
                  </a:pathLst>
                </a:custGeom>
                <a:ln w="28575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5206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8EF0-F313-7572-0604-DE4D18FB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7FC0-D28B-1681-0ECA-7DAE0ED1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376" y="382516"/>
            <a:ext cx="2044700" cy="638474"/>
          </a:xfrm>
          <a:noFill/>
        </p:spPr>
        <p:txBody>
          <a:bodyPr>
            <a:normAutofit fontScale="90000"/>
          </a:bodyPr>
          <a:lstStyle/>
          <a:p>
            <a:r>
              <a:rPr lang="en-US" sz="4000" b="1" dirty="0"/>
              <a:t>Results</a:t>
            </a:r>
            <a:r>
              <a:rPr lang="en-US" b="1" dirty="0"/>
              <a:t> </a:t>
            </a:r>
            <a:br>
              <a:rPr lang="en-US" b="1" dirty="0"/>
            </a:br>
            <a:endParaRPr lang="en-US" sz="16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B7DB2-0AD7-6046-ABA1-6F332213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DF8A-4821-40A4-8F05-DC426B417AE6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 descr="A graph with orange dots&#10;&#10;AI-generated content may be incorrect.">
            <a:extLst>
              <a:ext uri="{FF2B5EF4-FFF2-40B4-BE49-F238E27FC236}">
                <a16:creationId xmlns:a16="http://schemas.microsoft.com/office/drawing/2014/main" id="{CB80B571-C0F0-5D4A-8B56-1DB72D4FE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20" y="1938944"/>
            <a:ext cx="7901529" cy="3232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3A490A4-245A-0291-2FF6-779E474CC2A8}"/>
              </a:ext>
            </a:extLst>
          </p:cNvPr>
          <p:cNvGrpSpPr/>
          <p:nvPr/>
        </p:nvGrpSpPr>
        <p:grpSpPr>
          <a:xfrm>
            <a:off x="8948652" y="754967"/>
            <a:ext cx="2578645" cy="5963973"/>
            <a:chOff x="8274885" y="754967"/>
            <a:chExt cx="2578645" cy="59639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7A5DFA3-A9A4-A790-2FD7-28AA9A8DE295}"/>
                </a:ext>
              </a:extLst>
            </p:cNvPr>
            <p:cNvGrpSpPr/>
            <p:nvPr/>
          </p:nvGrpSpPr>
          <p:grpSpPr>
            <a:xfrm>
              <a:off x="8274885" y="754967"/>
              <a:ext cx="2578645" cy="5947931"/>
              <a:chOff x="8274885" y="771011"/>
              <a:chExt cx="2578645" cy="5947931"/>
            </a:xfrm>
          </p:grpSpPr>
          <p:pic>
            <p:nvPicPr>
              <p:cNvPr id="7" name="Picture 6" descr="A graph of a number of squares&#10;&#10;AI-generated content may be incorrect.">
                <a:extLst>
                  <a:ext uri="{FF2B5EF4-FFF2-40B4-BE49-F238E27FC236}">
                    <a16:creationId xmlns:a16="http://schemas.microsoft.com/office/drawing/2014/main" id="{F89FB4E1-A8DB-D221-172E-B4D3386E91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104"/>
              <a:stretch>
                <a:fillRect/>
              </a:stretch>
            </p:blipFill>
            <p:spPr bwMode="auto">
              <a:xfrm>
                <a:off x="8274885" y="771011"/>
                <a:ext cx="2578645" cy="53975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0ACC53-357A-BD33-F5A7-AF8741E8268D}"/>
                  </a:ext>
                </a:extLst>
              </p:cNvPr>
              <p:cNvSpPr/>
              <p:nvPr/>
            </p:nvSpPr>
            <p:spPr>
              <a:xfrm>
                <a:off x="8393373" y="6127845"/>
                <a:ext cx="368490" cy="591097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800" dirty="0"/>
                  <a:t>Exchange Rate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452C74D-E938-0753-4E81-F7C4819D5AFC}"/>
                  </a:ext>
                </a:extLst>
              </p:cNvPr>
              <p:cNvSpPr/>
              <p:nvPr/>
            </p:nvSpPr>
            <p:spPr>
              <a:xfrm>
                <a:off x="8913852" y="6127844"/>
                <a:ext cx="334990" cy="591097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800" dirty="0"/>
                  <a:t>Raw Cotton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627F183-88F9-F0DD-00C1-D6EA3A8351BE}"/>
                  </a:ext>
                </a:extLst>
              </p:cNvPr>
              <p:cNvSpPr/>
              <p:nvPr/>
            </p:nvSpPr>
            <p:spPr>
              <a:xfrm>
                <a:off x="9400831" y="6127844"/>
                <a:ext cx="334990" cy="591097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800" dirty="0"/>
                  <a:t>Oil Price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5D2D8E-61A7-64D7-8D61-E54E63A457D0}"/>
                </a:ext>
              </a:extLst>
            </p:cNvPr>
            <p:cNvSpPr/>
            <p:nvPr/>
          </p:nvSpPr>
          <p:spPr>
            <a:xfrm>
              <a:off x="9854310" y="6127843"/>
              <a:ext cx="3684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Labor Cost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AE4D157-CF70-BFFA-1055-BF68D9E2D433}"/>
              </a:ext>
            </a:extLst>
          </p:cNvPr>
          <p:cNvSpPr txBox="1"/>
          <p:nvPr/>
        </p:nvSpPr>
        <p:spPr>
          <a:xfrm>
            <a:off x="1127793" y="5403082"/>
            <a:ext cx="72846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Raw cotton price and oil price consistently appear among the most influential drivers.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Exchange rates and labor costs have a more moderate influence.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080ABB-8D6D-7155-C769-959D4645E2A2}"/>
              </a:ext>
            </a:extLst>
          </p:cNvPr>
          <p:cNvSpPr/>
          <p:nvPr/>
        </p:nvSpPr>
        <p:spPr>
          <a:xfrm>
            <a:off x="6632867" y="916136"/>
            <a:ext cx="1741111" cy="638474"/>
          </a:xfrm>
          <a:prstGeom prst="roundRect">
            <a:avLst/>
          </a:prstGeom>
          <a:ln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Accuracy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99.15 %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51DA61-9D61-8B1F-F963-D8E4060BA89A}"/>
              </a:ext>
            </a:extLst>
          </p:cNvPr>
          <p:cNvGrpSpPr/>
          <p:nvPr/>
        </p:nvGrpSpPr>
        <p:grpSpPr>
          <a:xfrm>
            <a:off x="-227282" y="-239051"/>
            <a:ext cx="1054398" cy="7081010"/>
            <a:chOff x="-227282" y="-239051"/>
            <a:chExt cx="1054398" cy="7081010"/>
          </a:xfrm>
        </p:grpSpPr>
        <p:pic>
          <p:nvPicPr>
            <p:cNvPr id="18" name="Picture 17" descr="A ball of yarn with a string&#10;&#10;AI-generated content may be incorrect.">
              <a:extLst>
                <a:ext uri="{FF2B5EF4-FFF2-40B4-BE49-F238E27FC236}">
                  <a16:creationId xmlns:a16="http://schemas.microsoft.com/office/drawing/2014/main" id="{4F3D5D35-2D04-890E-6ED2-9711252AF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70486">
              <a:off x="-359082" y="-107251"/>
              <a:ext cx="1317997" cy="1054398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0EF823-786F-F40A-43C0-B5A3775E9F2F}"/>
                </a:ext>
              </a:extLst>
            </p:cNvPr>
            <p:cNvSpPr/>
            <p:nvPr/>
          </p:nvSpPr>
          <p:spPr>
            <a:xfrm>
              <a:off x="16044" y="1093889"/>
              <a:ext cx="502063" cy="57480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D2E810-AF0B-B5CB-2614-A2D5182F8B22}"/>
                </a:ext>
              </a:extLst>
            </p:cNvPr>
            <p:cNvSpPr txBox="1"/>
            <p:nvPr/>
          </p:nvSpPr>
          <p:spPr>
            <a:xfrm rot="16200000">
              <a:off x="-992932" y="3711429"/>
              <a:ext cx="2543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TFT Model – China 40s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265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620E-BA9D-BAB6-335E-F01087D78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D394D-965E-EA14-6281-74E96963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DF8A-4821-40A4-8F05-DC426B417AE6}" type="slidenum">
              <a:rPr lang="en-US" smtClean="0"/>
              <a:t>4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6782C8-C0E0-1807-5A83-D3BECE3B6566}"/>
              </a:ext>
            </a:extLst>
          </p:cNvPr>
          <p:cNvSpPr txBox="1"/>
          <p:nvPr/>
        </p:nvSpPr>
        <p:spPr>
          <a:xfrm>
            <a:off x="822995" y="5485613"/>
            <a:ext cx="72846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Oil price and Labor cost consistently appear among the most influential drivers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Exchange rates and Raw Cotton Prices have a more moderate influence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3714D7-85E5-1295-3579-002788170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74" y="2038881"/>
            <a:ext cx="7900395" cy="323229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C6EE7D-AA88-E3E8-CC8E-5463221BD963}"/>
              </a:ext>
            </a:extLst>
          </p:cNvPr>
          <p:cNvSpPr/>
          <p:nvPr/>
        </p:nvSpPr>
        <p:spPr>
          <a:xfrm>
            <a:off x="6720883" y="901686"/>
            <a:ext cx="1803899" cy="725061"/>
          </a:xfrm>
          <a:prstGeom prst="roundRect">
            <a:avLst/>
          </a:prstGeom>
          <a:ln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Accuracy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99.34 %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C5A73F-3EA2-E2CC-38DD-FFDCCE3FE89B}"/>
              </a:ext>
            </a:extLst>
          </p:cNvPr>
          <p:cNvGrpSpPr/>
          <p:nvPr/>
        </p:nvGrpSpPr>
        <p:grpSpPr>
          <a:xfrm>
            <a:off x="8925977" y="840407"/>
            <a:ext cx="2767638" cy="5782283"/>
            <a:chOff x="8236168" y="936659"/>
            <a:chExt cx="2767638" cy="578228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653980-E863-CC65-B564-D38CB287D29D}"/>
                </a:ext>
              </a:extLst>
            </p:cNvPr>
            <p:cNvGrpSpPr/>
            <p:nvPr/>
          </p:nvGrpSpPr>
          <p:grpSpPr>
            <a:xfrm>
              <a:off x="8393373" y="6127844"/>
              <a:ext cx="1342448" cy="591098"/>
              <a:chOff x="8393373" y="6127844"/>
              <a:chExt cx="1342448" cy="59109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F0959CF-AC13-15E2-6DDA-5674404608E7}"/>
                  </a:ext>
                </a:extLst>
              </p:cNvPr>
              <p:cNvSpPr/>
              <p:nvPr/>
            </p:nvSpPr>
            <p:spPr>
              <a:xfrm>
                <a:off x="8393373" y="6127845"/>
                <a:ext cx="368490" cy="591097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800" dirty="0"/>
                  <a:t>Exchange Rate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42107B-4563-45F1-0812-AAE09211F995}"/>
                  </a:ext>
                </a:extLst>
              </p:cNvPr>
              <p:cNvSpPr/>
              <p:nvPr/>
            </p:nvSpPr>
            <p:spPr>
              <a:xfrm>
                <a:off x="8913852" y="6127844"/>
                <a:ext cx="334990" cy="591097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800" dirty="0"/>
                  <a:t>Raw Cotton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71D7E3-3AA1-8EC5-A13B-23CA4A5913FA}"/>
                  </a:ext>
                </a:extLst>
              </p:cNvPr>
              <p:cNvSpPr/>
              <p:nvPr/>
            </p:nvSpPr>
            <p:spPr>
              <a:xfrm>
                <a:off x="9400831" y="6127844"/>
                <a:ext cx="334990" cy="591097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800" dirty="0"/>
                  <a:t>Oil Price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24665D9-553E-B776-266C-F29EF4605B16}"/>
                </a:ext>
              </a:extLst>
            </p:cNvPr>
            <p:cNvSpPr/>
            <p:nvPr/>
          </p:nvSpPr>
          <p:spPr>
            <a:xfrm>
              <a:off x="9854310" y="6127843"/>
              <a:ext cx="3684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Labor Cost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A148B6B-1FF8-E913-6906-820EE522F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510"/>
            <a:stretch>
              <a:fillRect/>
            </a:stretch>
          </p:blipFill>
          <p:spPr bwMode="auto">
            <a:xfrm>
              <a:off x="8236168" y="936659"/>
              <a:ext cx="2767638" cy="51886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A65C347-FDF5-5254-C4F2-B6C675E3600C}"/>
              </a:ext>
            </a:extLst>
          </p:cNvPr>
          <p:cNvGrpSpPr/>
          <p:nvPr/>
        </p:nvGrpSpPr>
        <p:grpSpPr>
          <a:xfrm>
            <a:off x="-227282" y="-239051"/>
            <a:ext cx="1054398" cy="7081010"/>
            <a:chOff x="-227282" y="-239051"/>
            <a:chExt cx="1054398" cy="7081010"/>
          </a:xfrm>
        </p:grpSpPr>
        <p:pic>
          <p:nvPicPr>
            <p:cNvPr id="19" name="Picture 18" descr="A ball of yarn with a string&#10;&#10;AI-generated content may be incorrect.">
              <a:extLst>
                <a:ext uri="{FF2B5EF4-FFF2-40B4-BE49-F238E27FC236}">
                  <a16:creationId xmlns:a16="http://schemas.microsoft.com/office/drawing/2014/main" id="{EB3FCB26-D682-6D27-9D3C-5D5161EE5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70486">
              <a:off x="-359082" y="-107251"/>
              <a:ext cx="1317997" cy="1054398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FCEFA11-BD55-0FF9-A354-20B9848E4C90}"/>
                </a:ext>
              </a:extLst>
            </p:cNvPr>
            <p:cNvSpPr/>
            <p:nvPr/>
          </p:nvSpPr>
          <p:spPr>
            <a:xfrm>
              <a:off x="16044" y="1093889"/>
              <a:ext cx="502063" cy="57480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977365-6AEF-4CDF-3C8B-9F6369B59B91}"/>
                </a:ext>
              </a:extLst>
            </p:cNvPr>
            <p:cNvSpPr txBox="1"/>
            <p:nvPr/>
          </p:nvSpPr>
          <p:spPr>
            <a:xfrm rot="16200000">
              <a:off x="-992932" y="3711429"/>
              <a:ext cx="2543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TFT Model – India 30s</a:t>
              </a:r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6759A6A9-C840-C62F-AD81-F21C9FCD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376" y="382516"/>
            <a:ext cx="2044700" cy="638474"/>
          </a:xfrm>
          <a:noFill/>
        </p:spPr>
        <p:txBody>
          <a:bodyPr>
            <a:normAutofit fontScale="90000"/>
          </a:bodyPr>
          <a:lstStyle/>
          <a:p>
            <a:r>
              <a:rPr lang="en-US" sz="4000" b="1" dirty="0"/>
              <a:t>Results</a:t>
            </a:r>
            <a:r>
              <a:rPr lang="en-US" b="1" dirty="0"/>
              <a:t> </a:t>
            </a:r>
            <a:br>
              <a:rPr lang="en-US" b="1" dirty="0"/>
            </a:b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26890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3B6D3-9B30-C924-E7E8-906045E4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D9AD7-F04C-E343-A1B7-C6A21027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DF8A-4821-40A4-8F05-DC426B417AE6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 descr="A graph showing a line&#10;&#10;AI-generated content may be incorrect.">
            <a:extLst>
              <a:ext uri="{FF2B5EF4-FFF2-40B4-BE49-F238E27FC236}">
                <a16:creationId xmlns:a16="http://schemas.microsoft.com/office/drawing/2014/main" id="{7B8715AB-7B32-9B39-D961-8CB4B59419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65" y="1796322"/>
            <a:ext cx="8511608" cy="1855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graph showing a line&#10;&#10;AI-generated content may be incorrect.">
            <a:extLst>
              <a:ext uri="{FF2B5EF4-FFF2-40B4-BE49-F238E27FC236}">
                <a16:creationId xmlns:a16="http://schemas.microsoft.com/office/drawing/2014/main" id="{E4F25E86-B958-DE89-926A-FF3BD553DD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77" y="4474001"/>
            <a:ext cx="8511608" cy="1855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506D374-6B27-FA71-6992-FB7B932C0142}"/>
              </a:ext>
            </a:extLst>
          </p:cNvPr>
          <p:cNvGrpSpPr/>
          <p:nvPr/>
        </p:nvGrpSpPr>
        <p:grpSpPr>
          <a:xfrm>
            <a:off x="9008744" y="736951"/>
            <a:ext cx="2532849" cy="6043283"/>
            <a:chOff x="8142473" y="608615"/>
            <a:chExt cx="2532849" cy="6043283"/>
          </a:xfrm>
        </p:grpSpPr>
        <p:pic>
          <p:nvPicPr>
            <p:cNvPr id="17" name="Picture 16" descr="A purple and green graph&#10;&#10;AI-generated content may be incorrect.">
              <a:extLst>
                <a:ext uri="{FF2B5EF4-FFF2-40B4-BE49-F238E27FC236}">
                  <a16:creationId xmlns:a16="http://schemas.microsoft.com/office/drawing/2014/main" id="{34FE231C-5A3C-4F53-400D-D0E0AA004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2473" y="608615"/>
              <a:ext cx="2532849" cy="56407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046E7E-7C7A-88E6-E937-9AD9D0A478D6}"/>
                </a:ext>
              </a:extLst>
            </p:cNvPr>
            <p:cNvSpPr/>
            <p:nvPr/>
          </p:nvSpPr>
          <p:spPr>
            <a:xfrm>
              <a:off x="8780453" y="6060801"/>
              <a:ext cx="3684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Oil Price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7CD433-17D4-8D5B-75E1-CEBFD983A880}"/>
                </a:ext>
              </a:extLst>
            </p:cNvPr>
            <p:cNvSpPr/>
            <p:nvPr/>
          </p:nvSpPr>
          <p:spPr>
            <a:xfrm>
              <a:off x="9577142" y="6060801"/>
              <a:ext cx="3349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Yarn </a:t>
              </a:r>
            </a:p>
            <a:p>
              <a:pPr algn="ctr"/>
              <a:r>
                <a:rPr lang="en-US" sz="800" dirty="0"/>
                <a:t>Price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31DDEC9-20B5-F03B-309C-6A527309A84E}"/>
              </a:ext>
            </a:extLst>
          </p:cNvPr>
          <p:cNvSpPr/>
          <p:nvPr/>
        </p:nvSpPr>
        <p:spPr>
          <a:xfrm>
            <a:off x="7543965" y="3853230"/>
            <a:ext cx="1401170" cy="616771"/>
          </a:xfrm>
          <a:prstGeom prst="roundRect">
            <a:avLst/>
          </a:prstGeom>
          <a:ln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Accuracy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98.64 %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69FA93-D7A8-92BE-1868-4B858EFC797E}"/>
              </a:ext>
            </a:extLst>
          </p:cNvPr>
          <p:cNvGrpSpPr/>
          <p:nvPr/>
        </p:nvGrpSpPr>
        <p:grpSpPr>
          <a:xfrm>
            <a:off x="7592086" y="955626"/>
            <a:ext cx="1504034" cy="847356"/>
            <a:chOff x="5971841" y="843332"/>
            <a:chExt cx="1504034" cy="84735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EF91EBB-97A8-B88F-1012-23E0104E65AA}"/>
                </a:ext>
              </a:extLst>
            </p:cNvPr>
            <p:cNvSpPr/>
            <p:nvPr/>
          </p:nvSpPr>
          <p:spPr>
            <a:xfrm>
              <a:off x="5971841" y="1039893"/>
              <a:ext cx="1401170" cy="650795"/>
            </a:xfrm>
            <a:prstGeom prst="roundRect">
              <a:avLst/>
            </a:prstGeom>
            <a:ln>
              <a:prstDash val="sys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Accuracy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99.18 %</a:t>
              </a:r>
            </a:p>
          </p:txBody>
        </p:sp>
        <p:sp>
          <p:nvSpPr>
            <p:cNvPr id="21" name="Star: 4 Points 20">
              <a:extLst>
                <a:ext uri="{FF2B5EF4-FFF2-40B4-BE49-F238E27FC236}">
                  <a16:creationId xmlns:a16="http://schemas.microsoft.com/office/drawing/2014/main" id="{63336622-CF1E-E3D7-7E33-3EFAB7D7FE7C}"/>
                </a:ext>
              </a:extLst>
            </p:cNvPr>
            <p:cNvSpPr/>
            <p:nvPr/>
          </p:nvSpPr>
          <p:spPr>
            <a:xfrm>
              <a:off x="7072639" y="843332"/>
              <a:ext cx="403236" cy="393122"/>
            </a:xfrm>
            <a:prstGeom prst="star4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B57D62-78D0-A019-4A44-BCDD278BC9DE}"/>
              </a:ext>
            </a:extLst>
          </p:cNvPr>
          <p:cNvGrpSpPr/>
          <p:nvPr/>
        </p:nvGrpSpPr>
        <p:grpSpPr>
          <a:xfrm>
            <a:off x="-227282" y="-239051"/>
            <a:ext cx="1054398" cy="7081010"/>
            <a:chOff x="-227282" y="-239051"/>
            <a:chExt cx="1054398" cy="7081010"/>
          </a:xfrm>
        </p:grpSpPr>
        <p:pic>
          <p:nvPicPr>
            <p:cNvPr id="11" name="Picture 10" descr="A ball of yarn with a string&#10;&#10;AI-generated content may be incorrect.">
              <a:extLst>
                <a:ext uri="{FF2B5EF4-FFF2-40B4-BE49-F238E27FC236}">
                  <a16:creationId xmlns:a16="http://schemas.microsoft.com/office/drawing/2014/main" id="{46CD9F91-5AE8-BBD2-13AE-EFB6468A4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70486">
              <a:off x="-359082" y="-107251"/>
              <a:ext cx="1317997" cy="105439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669C27-17EA-9C19-85E8-90C85E037066}"/>
                </a:ext>
              </a:extLst>
            </p:cNvPr>
            <p:cNvSpPr/>
            <p:nvPr/>
          </p:nvSpPr>
          <p:spPr>
            <a:xfrm>
              <a:off x="16044" y="1093889"/>
              <a:ext cx="502063" cy="57480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8ED11E-7559-4FCF-62C8-75E6BADD29C6}"/>
                </a:ext>
              </a:extLst>
            </p:cNvPr>
            <p:cNvSpPr txBox="1"/>
            <p:nvPr/>
          </p:nvSpPr>
          <p:spPr>
            <a:xfrm rot="16200000">
              <a:off x="-1503629" y="3756909"/>
              <a:ext cx="35646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Domestic China 40/1 Combed</a:t>
              </a:r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5F625AD4-346C-6BA8-2E52-1BD26EA2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376" y="382516"/>
            <a:ext cx="2044700" cy="638474"/>
          </a:xfrm>
          <a:noFill/>
        </p:spPr>
        <p:txBody>
          <a:bodyPr>
            <a:normAutofit fontScale="90000"/>
          </a:bodyPr>
          <a:lstStyle/>
          <a:p>
            <a:r>
              <a:rPr lang="en-US" sz="4000" b="1" dirty="0"/>
              <a:t>Results</a:t>
            </a:r>
            <a:r>
              <a:rPr lang="en-US" b="1" dirty="0"/>
              <a:t> </a:t>
            </a:r>
            <a:br>
              <a:rPr lang="en-US" b="1" dirty="0"/>
            </a:b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70954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DE41-D0F2-3A7B-E24C-F9BEF8CA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7D59D-36E1-CE0D-03FF-EE328405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DF8A-4821-40A4-8F05-DC426B417AE6}" type="slidenum">
              <a:rPr lang="en-US" smtClean="0"/>
              <a:t>6</a:t>
            </a:fld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B0FC22-7FD8-7286-95B9-50407B401323}"/>
              </a:ext>
            </a:extLst>
          </p:cNvPr>
          <p:cNvSpPr/>
          <p:nvPr/>
        </p:nvSpPr>
        <p:spPr>
          <a:xfrm>
            <a:off x="6629564" y="1264481"/>
            <a:ext cx="1401170" cy="650795"/>
          </a:xfrm>
          <a:prstGeom prst="roundRect">
            <a:avLst/>
          </a:prstGeom>
          <a:ln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Accuracy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99.53 %</a:t>
            </a:r>
          </a:p>
        </p:txBody>
      </p:sp>
      <p:pic>
        <p:nvPicPr>
          <p:cNvPr id="8" name="Picture 7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3B8566B0-31DC-C051-0616-A62C78E1E9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65" y="1911222"/>
            <a:ext cx="7670100" cy="1670869"/>
          </a:xfrm>
          <a:prstGeom prst="rect">
            <a:avLst/>
          </a:prstGeom>
          <a:noFill/>
        </p:spPr>
      </p:pic>
      <p:pic>
        <p:nvPicPr>
          <p:cNvPr id="9" name="Picture 8" descr="A graph showing a line&#10;&#10;AI-generated content may be incorrect.">
            <a:extLst>
              <a:ext uri="{FF2B5EF4-FFF2-40B4-BE49-F238E27FC236}">
                <a16:creationId xmlns:a16="http://schemas.microsoft.com/office/drawing/2014/main" id="{1EB9714C-2B9A-558A-DACD-C622445752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07" y="4685480"/>
            <a:ext cx="7670100" cy="1670869"/>
          </a:xfrm>
          <a:prstGeom prst="rect">
            <a:avLst/>
          </a:prstGeom>
          <a:noFill/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935FAFD-8459-7583-84E0-7B4900D97E2A}"/>
              </a:ext>
            </a:extLst>
          </p:cNvPr>
          <p:cNvGrpSpPr/>
          <p:nvPr/>
        </p:nvGrpSpPr>
        <p:grpSpPr>
          <a:xfrm>
            <a:off x="8486360" y="803792"/>
            <a:ext cx="3633728" cy="5848106"/>
            <a:chOff x="8261772" y="803792"/>
            <a:chExt cx="3633728" cy="584810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45B526-7FDF-66B3-4813-DAC61CA7378E}"/>
                </a:ext>
              </a:extLst>
            </p:cNvPr>
            <p:cNvSpPr/>
            <p:nvPr/>
          </p:nvSpPr>
          <p:spPr>
            <a:xfrm>
              <a:off x="8580026" y="6054208"/>
              <a:ext cx="3684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Oil Price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AC99E59-87B8-0D73-C87F-4020BE4DDB25}"/>
                </a:ext>
              </a:extLst>
            </p:cNvPr>
            <p:cNvSpPr/>
            <p:nvPr/>
          </p:nvSpPr>
          <p:spPr>
            <a:xfrm>
              <a:off x="10686035" y="6060801"/>
              <a:ext cx="3349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Yarn </a:t>
              </a:r>
            </a:p>
            <a:p>
              <a:pPr algn="ctr"/>
              <a:r>
                <a:rPr lang="en-US" sz="800" dirty="0"/>
                <a:t>Price</a:t>
              </a:r>
            </a:p>
          </p:txBody>
        </p:sp>
        <p:pic>
          <p:nvPicPr>
            <p:cNvPr id="11" name="Picture 10" descr="A chart with different colors&#10;&#10;AI-generated content may be incorrect.">
              <a:extLst>
                <a:ext uri="{FF2B5EF4-FFF2-40B4-BE49-F238E27FC236}">
                  <a16:creationId xmlns:a16="http://schemas.microsoft.com/office/drawing/2014/main" id="{7C3AA537-AA29-734D-C04F-33301696A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323"/>
            <a:stretch>
              <a:fillRect/>
            </a:stretch>
          </p:blipFill>
          <p:spPr bwMode="auto">
            <a:xfrm>
              <a:off x="8261772" y="803792"/>
              <a:ext cx="3633728" cy="5257009"/>
            </a:xfrm>
            <a:prstGeom prst="rect">
              <a:avLst/>
            </a:prstGeom>
            <a:noFill/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F7BD468-5021-404C-E2D0-E374A572DB35}"/>
                </a:ext>
              </a:extLst>
            </p:cNvPr>
            <p:cNvSpPr/>
            <p:nvPr/>
          </p:nvSpPr>
          <p:spPr>
            <a:xfrm>
              <a:off x="9274052" y="6060801"/>
              <a:ext cx="3349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Raw Corron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C8B846-9752-D659-A44A-38245489418F}"/>
                </a:ext>
              </a:extLst>
            </p:cNvPr>
            <p:cNvSpPr/>
            <p:nvPr/>
          </p:nvSpPr>
          <p:spPr>
            <a:xfrm>
              <a:off x="9937504" y="6060801"/>
              <a:ext cx="3349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Labor </a:t>
              </a:r>
            </a:p>
            <a:p>
              <a:pPr algn="ctr"/>
              <a:r>
                <a:rPr lang="en-US" sz="800" dirty="0"/>
                <a:t>Cost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ECA8CB1-6E4B-0A69-0B9F-43159BDD008E}"/>
              </a:ext>
            </a:extLst>
          </p:cNvPr>
          <p:cNvGrpSpPr/>
          <p:nvPr/>
        </p:nvGrpSpPr>
        <p:grpSpPr>
          <a:xfrm>
            <a:off x="-227282" y="-239051"/>
            <a:ext cx="1054398" cy="7081010"/>
            <a:chOff x="-227282" y="-239051"/>
            <a:chExt cx="1054398" cy="7081010"/>
          </a:xfrm>
        </p:grpSpPr>
        <p:pic>
          <p:nvPicPr>
            <p:cNvPr id="7" name="Picture 6" descr="A ball of yarn with a string&#10;&#10;AI-generated content may be incorrect.">
              <a:extLst>
                <a:ext uri="{FF2B5EF4-FFF2-40B4-BE49-F238E27FC236}">
                  <a16:creationId xmlns:a16="http://schemas.microsoft.com/office/drawing/2014/main" id="{B1859327-363B-58B1-17AD-55C22963F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70486">
              <a:off x="-359082" y="-107251"/>
              <a:ext cx="1317997" cy="1054398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FACDA85-6715-B814-F6C6-391C30EDB92C}"/>
                </a:ext>
              </a:extLst>
            </p:cNvPr>
            <p:cNvSpPr/>
            <p:nvPr/>
          </p:nvSpPr>
          <p:spPr>
            <a:xfrm>
              <a:off x="16044" y="1093889"/>
              <a:ext cx="502063" cy="57480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861A33-7B18-6F23-1390-D837A273EBA1}"/>
                </a:ext>
              </a:extLst>
            </p:cNvPr>
            <p:cNvSpPr txBox="1"/>
            <p:nvPr/>
          </p:nvSpPr>
          <p:spPr>
            <a:xfrm rot="16200000">
              <a:off x="-1096050" y="3816285"/>
              <a:ext cx="2740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FOB China 40/1 Carded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3929CF-DDA2-BDEB-3816-ECFA466640A4}"/>
              </a:ext>
            </a:extLst>
          </p:cNvPr>
          <p:cNvGrpSpPr/>
          <p:nvPr/>
        </p:nvGrpSpPr>
        <p:grpSpPr>
          <a:xfrm>
            <a:off x="6645605" y="3862736"/>
            <a:ext cx="1584283" cy="815811"/>
            <a:chOff x="5971840" y="3606064"/>
            <a:chExt cx="1584283" cy="815811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D2807D9-A75B-ABAD-CFB6-0C1B88135180}"/>
                </a:ext>
              </a:extLst>
            </p:cNvPr>
            <p:cNvSpPr/>
            <p:nvPr/>
          </p:nvSpPr>
          <p:spPr>
            <a:xfrm>
              <a:off x="5971840" y="3805104"/>
              <a:ext cx="1401170" cy="616771"/>
            </a:xfrm>
            <a:prstGeom prst="roundRect">
              <a:avLst/>
            </a:prstGeom>
            <a:ln>
              <a:prstDash val="sys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Accuracy</a:t>
              </a:r>
            </a:p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99.79 %</a:t>
              </a:r>
            </a:p>
          </p:txBody>
        </p:sp>
        <p:sp>
          <p:nvSpPr>
            <p:cNvPr id="10" name="Star: 4 Points 9">
              <a:extLst>
                <a:ext uri="{FF2B5EF4-FFF2-40B4-BE49-F238E27FC236}">
                  <a16:creationId xmlns:a16="http://schemas.microsoft.com/office/drawing/2014/main" id="{6CEB56AE-2421-0276-02B3-B9E43BBB177B}"/>
                </a:ext>
              </a:extLst>
            </p:cNvPr>
            <p:cNvSpPr/>
            <p:nvPr/>
          </p:nvSpPr>
          <p:spPr>
            <a:xfrm>
              <a:off x="7152887" y="3606064"/>
              <a:ext cx="403236" cy="393122"/>
            </a:xfrm>
            <a:prstGeom prst="star4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918C8E3A-95BB-6B8F-97E5-F229C5D7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376" y="382516"/>
            <a:ext cx="2044700" cy="638474"/>
          </a:xfrm>
          <a:noFill/>
        </p:spPr>
        <p:txBody>
          <a:bodyPr>
            <a:normAutofit fontScale="90000"/>
          </a:bodyPr>
          <a:lstStyle/>
          <a:p>
            <a:r>
              <a:rPr lang="en-US" sz="4000" b="1" dirty="0"/>
              <a:t>Results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13059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964C4-5A34-D618-C84F-BBBBD51DC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09B08-F56D-8F3A-ADFB-41797B0A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DF8A-4821-40A4-8F05-DC426B417AE6}" type="slidenum">
              <a:rPr lang="en-US" smtClean="0"/>
              <a:t>7</a:t>
            </a:fld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081E23-05D5-9801-A1B0-88EC5E2FC737}"/>
              </a:ext>
            </a:extLst>
          </p:cNvPr>
          <p:cNvSpPr/>
          <p:nvPr/>
        </p:nvSpPr>
        <p:spPr>
          <a:xfrm>
            <a:off x="7110831" y="1088019"/>
            <a:ext cx="1401170" cy="650795"/>
          </a:xfrm>
          <a:prstGeom prst="roundRect">
            <a:avLst/>
          </a:prstGeom>
          <a:ln>
            <a:prstDash val="sys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Accuracy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99.16 %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C50CCCA-EF4E-7A3F-D117-FDDC25FAA443}"/>
              </a:ext>
            </a:extLst>
          </p:cNvPr>
          <p:cNvGrpSpPr/>
          <p:nvPr/>
        </p:nvGrpSpPr>
        <p:grpSpPr>
          <a:xfrm>
            <a:off x="7030618" y="3750442"/>
            <a:ext cx="1584283" cy="815811"/>
            <a:chOff x="5971840" y="3606064"/>
            <a:chExt cx="1584283" cy="815811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E248D7B-DCD4-A833-BBE3-A1EAAD163BDE}"/>
                </a:ext>
              </a:extLst>
            </p:cNvPr>
            <p:cNvSpPr/>
            <p:nvPr/>
          </p:nvSpPr>
          <p:spPr>
            <a:xfrm>
              <a:off x="5971840" y="3805104"/>
              <a:ext cx="1401170" cy="616771"/>
            </a:xfrm>
            <a:prstGeom prst="roundRect">
              <a:avLst/>
            </a:prstGeom>
            <a:ln>
              <a:prstDash val="sysDash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Accuracy</a:t>
              </a:r>
            </a:p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99.17 %</a:t>
              </a:r>
            </a:p>
          </p:txBody>
        </p:sp>
        <p:sp>
          <p:nvSpPr>
            <p:cNvPr id="10" name="Star: 4 Points 9">
              <a:extLst>
                <a:ext uri="{FF2B5EF4-FFF2-40B4-BE49-F238E27FC236}">
                  <a16:creationId xmlns:a16="http://schemas.microsoft.com/office/drawing/2014/main" id="{DAA783F9-CFB5-E555-5A04-CB4294D626DC}"/>
                </a:ext>
              </a:extLst>
            </p:cNvPr>
            <p:cNvSpPr/>
            <p:nvPr/>
          </p:nvSpPr>
          <p:spPr>
            <a:xfrm>
              <a:off x="7152887" y="3606064"/>
              <a:ext cx="403236" cy="393122"/>
            </a:xfrm>
            <a:prstGeom prst="star4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graph showing a line&#10;&#10;AI-generated content may be incorrect.">
            <a:extLst>
              <a:ext uri="{FF2B5EF4-FFF2-40B4-BE49-F238E27FC236}">
                <a16:creationId xmlns:a16="http://schemas.microsoft.com/office/drawing/2014/main" id="{BD687DC5-0ED0-944B-5D2C-D3566290C5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40" y="1750003"/>
            <a:ext cx="8188782" cy="1786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graph showing a line&#10;&#10;AI-generated content may be incorrect.">
            <a:extLst>
              <a:ext uri="{FF2B5EF4-FFF2-40B4-BE49-F238E27FC236}">
                <a16:creationId xmlns:a16="http://schemas.microsoft.com/office/drawing/2014/main" id="{882D177E-ED00-16F0-76DB-3764030D7A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88" y="4569865"/>
            <a:ext cx="8188782" cy="17864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499C9B1-523A-3DD3-A1FC-B3924DDA0A5E}"/>
              </a:ext>
            </a:extLst>
          </p:cNvPr>
          <p:cNvGrpSpPr/>
          <p:nvPr/>
        </p:nvGrpSpPr>
        <p:grpSpPr>
          <a:xfrm>
            <a:off x="8634725" y="994777"/>
            <a:ext cx="3307138" cy="5657121"/>
            <a:chOff x="8345969" y="994777"/>
            <a:chExt cx="3307138" cy="565712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8C69EDE-44F4-2AF3-F93C-634B51E3DE39}"/>
                </a:ext>
              </a:extLst>
            </p:cNvPr>
            <p:cNvSpPr/>
            <p:nvPr/>
          </p:nvSpPr>
          <p:spPr>
            <a:xfrm>
              <a:off x="10413079" y="6060801"/>
              <a:ext cx="3349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Yarn </a:t>
              </a:r>
            </a:p>
            <a:p>
              <a:pPr algn="ctr"/>
              <a:r>
                <a:rPr lang="en-US" sz="800" dirty="0"/>
                <a:t>Price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86C298-ED9D-774D-A77E-7A4C7A67E3F4}"/>
                </a:ext>
              </a:extLst>
            </p:cNvPr>
            <p:cNvSpPr/>
            <p:nvPr/>
          </p:nvSpPr>
          <p:spPr>
            <a:xfrm>
              <a:off x="9001096" y="6060801"/>
              <a:ext cx="3349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Raw Corron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2F2C9B-8BAC-5887-F25F-3E27A91843F0}"/>
                </a:ext>
              </a:extLst>
            </p:cNvPr>
            <p:cNvSpPr/>
            <p:nvPr/>
          </p:nvSpPr>
          <p:spPr>
            <a:xfrm>
              <a:off x="9726390" y="6060801"/>
              <a:ext cx="334990" cy="59109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800" dirty="0"/>
                <a:t>Labor </a:t>
              </a:r>
            </a:p>
            <a:p>
              <a:pPr algn="ctr"/>
              <a:r>
                <a:rPr lang="en-US" sz="800" dirty="0"/>
                <a:t>Cost</a:t>
              </a:r>
            </a:p>
          </p:txBody>
        </p:sp>
        <p:pic>
          <p:nvPicPr>
            <p:cNvPr id="14" name="Picture 13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FAFB87A0-B0B5-9E56-E440-34213FF9A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263"/>
            <a:stretch>
              <a:fillRect/>
            </a:stretch>
          </p:blipFill>
          <p:spPr bwMode="auto">
            <a:xfrm>
              <a:off x="8345969" y="994777"/>
              <a:ext cx="3307138" cy="4996447"/>
            </a:xfrm>
            <a:prstGeom prst="rect">
              <a:avLst/>
            </a:prstGeom>
            <a:noFill/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E91BE4-DEC3-C6B6-183F-AB71BEACBFA8}"/>
              </a:ext>
            </a:extLst>
          </p:cNvPr>
          <p:cNvGrpSpPr/>
          <p:nvPr/>
        </p:nvGrpSpPr>
        <p:grpSpPr>
          <a:xfrm>
            <a:off x="-227282" y="-239051"/>
            <a:ext cx="1054398" cy="7081010"/>
            <a:chOff x="-227282" y="-239051"/>
            <a:chExt cx="1054398" cy="7081010"/>
          </a:xfrm>
        </p:grpSpPr>
        <p:pic>
          <p:nvPicPr>
            <p:cNvPr id="9" name="Picture 8" descr="A ball of yarn with a string&#10;&#10;AI-generated content may be incorrect.">
              <a:extLst>
                <a:ext uri="{FF2B5EF4-FFF2-40B4-BE49-F238E27FC236}">
                  <a16:creationId xmlns:a16="http://schemas.microsoft.com/office/drawing/2014/main" id="{03D15273-007D-4A94-1994-9BBCC5280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70486">
              <a:off x="-359082" y="-107251"/>
              <a:ext cx="1317997" cy="1054398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D5DFA8A-8289-28BF-7BF1-F99ECE8E1A82}"/>
                </a:ext>
              </a:extLst>
            </p:cNvPr>
            <p:cNvSpPr/>
            <p:nvPr/>
          </p:nvSpPr>
          <p:spPr>
            <a:xfrm>
              <a:off x="16044" y="1093889"/>
              <a:ext cx="502063" cy="57480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30F259-D592-6C28-9567-8C6223D04D8F}"/>
                </a:ext>
              </a:extLst>
            </p:cNvPr>
            <p:cNvSpPr txBox="1"/>
            <p:nvPr/>
          </p:nvSpPr>
          <p:spPr>
            <a:xfrm rot="16200000">
              <a:off x="-1536502" y="3664589"/>
              <a:ext cx="36209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FOB North India 30/1 Combed</a:t>
              </a: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4D57314C-9BAC-ADA2-AADC-316506D0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376" y="382516"/>
            <a:ext cx="2044700" cy="638474"/>
          </a:xfrm>
          <a:noFill/>
        </p:spPr>
        <p:txBody>
          <a:bodyPr>
            <a:normAutofit fontScale="90000"/>
          </a:bodyPr>
          <a:lstStyle/>
          <a:p>
            <a:r>
              <a:rPr lang="en-US" sz="4000" b="1" dirty="0"/>
              <a:t>Results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2220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74E9-4030-806F-34C1-7215E8C3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A9021-0370-3923-2D76-E1E0F203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DF8A-4821-40A4-8F05-DC426B417AE6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01DC6DE-4B1D-0B9C-6AA8-91F2DA751D55}"/>
              </a:ext>
            </a:extLst>
          </p:cNvPr>
          <p:cNvGraphicFramePr>
            <a:graphicFrameLocks noGrp="1"/>
          </p:cNvGraphicFramePr>
          <p:nvPr/>
        </p:nvGraphicFramePr>
        <p:xfrm>
          <a:off x="1040692" y="1542197"/>
          <a:ext cx="10497891" cy="4407642"/>
        </p:xfrm>
        <a:graphic>
          <a:graphicData uri="http://schemas.openxmlformats.org/drawingml/2006/table">
            <a:tbl>
              <a:tblPr firstRow="1" firstCol="1" bandRow="1"/>
              <a:tblGrid>
                <a:gridCol w="2176317">
                  <a:extLst>
                    <a:ext uri="{9D8B030D-6E8A-4147-A177-3AD203B41FA5}">
                      <a16:colId xmlns:a16="http://schemas.microsoft.com/office/drawing/2014/main" val="2904944876"/>
                    </a:ext>
                  </a:extLst>
                </a:gridCol>
                <a:gridCol w="1388511">
                  <a:extLst>
                    <a:ext uri="{9D8B030D-6E8A-4147-A177-3AD203B41FA5}">
                      <a16:colId xmlns:a16="http://schemas.microsoft.com/office/drawing/2014/main" val="1257718673"/>
                    </a:ext>
                  </a:extLst>
                </a:gridCol>
                <a:gridCol w="982639">
                  <a:extLst>
                    <a:ext uri="{9D8B030D-6E8A-4147-A177-3AD203B41FA5}">
                      <a16:colId xmlns:a16="http://schemas.microsoft.com/office/drawing/2014/main" val="1544602155"/>
                    </a:ext>
                  </a:extLst>
                </a:gridCol>
                <a:gridCol w="887105">
                  <a:extLst>
                    <a:ext uri="{9D8B030D-6E8A-4147-A177-3AD203B41FA5}">
                      <a16:colId xmlns:a16="http://schemas.microsoft.com/office/drawing/2014/main" val="1845999334"/>
                    </a:ext>
                  </a:extLst>
                </a:gridCol>
                <a:gridCol w="1214650">
                  <a:extLst>
                    <a:ext uri="{9D8B030D-6E8A-4147-A177-3AD203B41FA5}">
                      <a16:colId xmlns:a16="http://schemas.microsoft.com/office/drawing/2014/main" val="56980503"/>
                    </a:ext>
                  </a:extLst>
                </a:gridCol>
                <a:gridCol w="1787857">
                  <a:extLst>
                    <a:ext uri="{9D8B030D-6E8A-4147-A177-3AD203B41FA5}">
                      <a16:colId xmlns:a16="http://schemas.microsoft.com/office/drawing/2014/main" val="3645174456"/>
                    </a:ext>
                  </a:extLst>
                </a:gridCol>
                <a:gridCol w="928048">
                  <a:extLst>
                    <a:ext uri="{9D8B030D-6E8A-4147-A177-3AD203B41FA5}">
                      <a16:colId xmlns:a16="http://schemas.microsoft.com/office/drawing/2014/main" val="1895603431"/>
                    </a:ext>
                  </a:extLst>
                </a:gridCol>
                <a:gridCol w="1132764">
                  <a:extLst>
                    <a:ext uri="{9D8B030D-6E8A-4147-A177-3AD203B41FA5}">
                      <a16:colId xmlns:a16="http://schemas.microsoft.com/office/drawing/2014/main" val="3290092122"/>
                    </a:ext>
                  </a:extLst>
                </a:gridCol>
              </a:tblGrid>
              <a:tr h="8020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Market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Yarn Count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Univariate Model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MAPE-Based Accuracy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Multivariate Model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Variables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MAPE-Based Accuracy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Best Model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08333"/>
                  </a:ext>
                </a:extLst>
              </a:tr>
              <a:tr h="2853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Domestic China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40/1 Carded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99.10%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exchange_rate_numeric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99.35%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Multivariate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766998"/>
                  </a:ext>
                </a:extLst>
              </a:tr>
              <a:tr h="2853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Domestic China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40/1 Combed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BiLSTM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99.18%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oil_price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98.64%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Univariate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035312"/>
                  </a:ext>
                </a:extLst>
              </a:tr>
              <a:tr h="2853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Domestic China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40/2 Carded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99.48%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exchange_rate_numeric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99.26%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Univariate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884466"/>
                  </a:ext>
                </a:extLst>
              </a:tr>
              <a:tr h="2853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FOB China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40/1 Carded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98.68%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raw_cotton_price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98.75%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Multivariate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405979"/>
                  </a:ext>
                </a:extLst>
              </a:tr>
              <a:tr h="2853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FOB China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40/1 Combed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BiLSTM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99.32%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exchange_rate_numeric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98.72%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Univariate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691910"/>
                  </a:ext>
                </a:extLst>
              </a:tr>
              <a:tr h="6793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FOB China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40/2 Carded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99.53%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AttnBiLSTM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oil_price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raw_cotton_price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labour_cost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99.79%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Multivariate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087829"/>
                  </a:ext>
                </a:extLst>
              </a:tr>
              <a:tr h="4352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FOB North India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30/1 Combed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99.16%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BiLSTM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raw_cotton_price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labour_cost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99.17%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Multivariate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268413"/>
                  </a:ext>
                </a:extLst>
              </a:tr>
              <a:tr h="4352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Domestic North India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30/1 Combed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99.09%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GRU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raw_cotton_price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98.96%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</a:rPr>
                        <a:t>Univariate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471753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5F3A4347-7F62-52FD-F0D6-E629107BBBE1}"/>
              </a:ext>
            </a:extLst>
          </p:cNvPr>
          <p:cNvGrpSpPr/>
          <p:nvPr/>
        </p:nvGrpSpPr>
        <p:grpSpPr>
          <a:xfrm>
            <a:off x="-227282" y="-239051"/>
            <a:ext cx="1054398" cy="7081010"/>
            <a:chOff x="-227282" y="-239051"/>
            <a:chExt cx="1054398" cy="7081010"/>
          </a:xfrm>
        </p:grpSpPr>
        <p:pic>
          <p:nvPicPr>
            <p:cNvPr id="7" name="Picture 6" descr="A ball of yarn with a string&#10;&#10;AI-generated content may be incorrect.">
              <a:extLst>
                <a:ext uri="{FF2B5EF4-FFF2-40B4-BE49-F238E27FC236}">
                  <a16:creationId xmlns:a16="http://schemas.microsoft.com/office/drawing/2014/main" id="{046D0C8B-A0A3-B00F-3DB7-31F681E72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70486">
              <a:off x="-359082" y="-107251"/>
              <a:ext cx="1317997" cy="105439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AD7EC6-8124-EC24-3C12-2DEBDBCE3223}"/>
                </a:ext>
              </a:extLst>
            </p:cNvPr>
            <p:cNvSpPr/>
            <p:nvPr/>
          </p:nvSpPr>
          <p:spPr>
            <a:xfrm>
              <a:off x="16044" y="1093889"/>
              <a:ext cx="502063" cy="57480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901CAF-53AE-D734-1B02-F15F7B9A11B6}"/>
                </a:ext>
              </a:extLst>
            </p:cNvPr>
            <p:cNvSpPr txBox="1"/>
            <p:nvPr/>
          </p:nvSpPr>
          <p:spPr>
            <a:xfrm rot="16200000">
              <a:off x="-562726" y="3678195"/>
              <a:ext cx="1636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Summary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3EDC4A72-6B82-D6B2-16C1-BDB79DA1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376" y="382516"/>
            <a:ext cx="2044700" cy="638474"/>
          </a:xfrm>
          <a:noFill/>
        </p:spPr>
        <p:txBody>
          <a:bodyPr>
            <a:normAutofit fontScale="90000"/>
          </a:bodyPr>
          <a:lstStyle/>
          <a:p>
            <a:r>
              <a:rPr lang="en-US" sz="4000" b="1" dirty="0"/>
              <a:t>Results</a:t>
            </a:r>
            <a:r>
              <a:rPr lang="en-US" b="1" dirty="0"/>
              <a:t> </a:t>
            </a:r>
            <a:br>
              <a:rPr lang="en-US" b="1" dirty="0"/>
            </a:b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4159191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327</Words>
  <Application>Microsoft Office PowerPoint</Application>
  <PresentationFormat>Widescreen</PresentationFormat>
  <Paragraphs>151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Calibri</vt:lpstr>
      <vt:lpstr>Times New Roman</vt:lpstr>
      <vt:lpstr>Office Theme</vt:lpstr>
      <vt:lpstr>PowerPoint Presentation</vt:lpstr>
      <vt:lpstr>Scope</vt:lpstr>
      <vt:lpstr>Results  </vt:lpstr>
      <vt:lpstr>Results  </vt:lpstr>
      <vt:lpstr>Results  </vt:lpstr>
      <vt:lpstr>Results</vt:lpstr>
      <vt:lpstr>Results</vt:lpstr>
      <vt:lpstr>Results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Buddhika Karunatilleke</dc:creator>
  <cp:lastModifiedBy>Buddhika Karunatilleke</cp:lastModifiedBy>
  <cp:revision>1</cp:revision>
  <dcterms:created xsi:type="dcterms:W3CDTF">2026-05-13T01:35:10Z</dcterms:created>
  <dcterms:modified xsi:type="dcterms:W3CDTF">2026-05-13T01:37:57Z</dcterms:modified>
</cp:coreProperties>
</file>